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bd4524546f43f9" /><Relationship Type="http://schemas.openxmlformats.org/officeDocument/2006/relationships/extended-properties" Target="/docProps/app.xml" Id="R15cf865267bb4323" /><Relationship Type="http://schemas.openxmlformats.org/officeDocument/2006/relationships/officeDocument" Target="/ppt/presentation.xml" Id="R5b3b30a4c7754a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fbcf43c3bb49e9"/>
  </p:sldMasterIdLst>
  <p:notesMasterIdLst>
    <p:notesMasterId xmlns:r="http://schemas.openxmlformats.org/officeDocument/2006/relationships" r:id="R3dedbc9ba1274a48"/>
  </p:notesMasterIdLst>
  <p:sldIdLst>
    <p:sldId xmlns:r="http://schemas.openxmlformats.org/officeDocument/2006/relationships" id="256" r:id="R25b41aab95964e26"/>
    <p:sldId xmlns:r="http://schemas.openxmlformats.org/officeDocument/2006/relationships" id="257" r:id="R6e7a99362529491c"/>
    <p:sldId xmlns:r="http://schemas.openxmlformats.org/officeDocument/2006/relationships" id="258" r:id="Rb63d009ed16b44c2"/>
    <p:sldId xmlns:r="http://schemas.openxmlformats.org/officeDocument/2006/relationships" id="259" r:id="Re1a95a8ae589410a"/>
    <p:sldId xmlns:r="http://schemas.openxmlformats.org/officeDocument/2006/relationships" id="260" r:id="Rb83f82923cfe4a77"/>
    <p:sldId xmlns:r="http://schemas.openxmlformats.org/officeDocument/2006/relationships" id="261" r:id="R783508ed44604236"/>
    <p:sldId xmlns:r="http://schemas.openxmlformats.org/officeDocument/2006/relationships" id="262" r:id="Rbda883a8f62b4cca"/>
    <p:sldId xmlns:r="http://schemas.openxmlformats.org/officeDocument/2006/relationships" id="263" r:id="R52334d383bba4558"/>
    <p:sldId xmlns:r="http://schemas.openxmlformats.org/officeDocument/2006/relationships" id="264" r:id="R72277c9e4dea4e48"/>
    <p:sldId xmlns:r="http://schemas.openxmlformats.org/officeDocument/2006/relationships" id="265" r:id="R3789a73133964288"/>
    <p:sldId xmlns:r="http://schemas.openxmlformats.org/officeDocument/2006/relationships" id="266" r:id="Rc57ac51f107d4396"/>
    <p:sldId xmlns:r="http://schemas.openxmlformats.org/officeDocument/2006/relationships" id="267" r:id="Rb0a24b7b2d1a4bbc"/>
    <p:sldId xmlns:r="http://schemas.openxmlformats.org/officeDocument/2006/relationships" id="268" r:id="Rf6177e77dd664fce"/>
    <p:sldId xmlns:r="http://schemas.openxmlformats.org/officeDocument/2006/relationships" id="269" r:id="R6f0e099d3e2c41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c92543cfe04ab8" /><Relationship Type="http://schemas.openxmlformats.org/officeDocument/2006/relationships/slideMaster" Target="/ppt/slideMasters/slideMaster1.xml" Id="Reffbcf43c3bb49e9" /><Relationship Type="http://schemas.openxmlformats.org/officeDocument/2006/relationships/notesMaster" Target="/ppt/notesMasters/notesMaster1.xml" Id="R3dedbc9ba1274a48" /><Relationship Type="http://schemas.openxmlformats.org/officeDocument/2006/relationships/presProps" Target="/ppt/presProps.xml" Id="Rd175e115281f4c73" /><Relationship Type="http://schemas.openxmlformats.org/officeDocument/2006/relationships/tableStyles" Target="/ppt/tableStyles.xml" Id="R395f43fa81bd4e53" /><Relationship Type="http://schemas.openxmlformats.org/officeDocument/2006/relationships/slide" Target="/ppt/slides/slide1.xml" Id="R25b41aab95964e26" /><Relationship Type="http://schemas.openxmlformats.org/officeDocument/2006/relationships/slide" Target="/ppt/slides/slide2.xml" Id="R6e7a99362529491c" /><Relationship Type="http://schemas.openxmlformats.org/officeDocument/2006/relationships/slide" Target="/ppt/slides/slide3.xml" Id="Rb63d009ed16b44c2" /><Relationship Type="http://schemas.openxmlformats.org/officeDocument/2006/relationships/slide" Target="/ppt/slides/slide4.xml" Id="Re1a95a8ae589410a" /><Relationship Type="http://schemas.openxmlformats.org/officeDocument/2006/relationships/slide" Target="/ppt/slides/slide5.xml" Id="Rb83f82923cfe4a77" /><Relationship Type="http://schemas.openxmlformats.org/officeDocument/2006/relationships/slide" Target="/ppt/slides/slide6.xml" Id="R783508ed44604236" /><Relationship Type="http://schemas.openxmlformats.org/officeDocument/2006/relationships/slide" Target="/ppt/slides/slide7.xml" Id="Rbda883a8f62b4cca" /><Relationship Type="http://schemas.openxmlformats.org/officeDocument/2006/relationships/slide" Target="/ppt/slides/slide8.xml" Id="R52334d383bba4558" /><Relationship Type="http://schemas.openxmlformats.org/officeDocument/2006/relationships/slide" Target="/ppt/slides/slide9.xml" Id="R72277c9e4dea4e48" /><Relationship Type="http://schemas.openxmlformats.org/officeDocument/2006/relationships/slide" Target="/ppt/slides/slide10.xml" Id="R3789a73133964288" /><Relationship Type="http://schemas.openxmlformats.org/officeDocument/2006/relationships/slide" Target="/ppt/slides/slide11.xml" Id="Rc57ac51f107d4396" /><Relationship Type="http://schemas.openxmlformats.org/officeDocument/2006/relationships/slide" Target="/ppt/slides/slide12.xml" Id="Rb0a24b7b2d1a4bbc" /><Relationship Type="http://schemas.openxmlformats.org/officeDocument/2006/relationships/slide" Target="/ppt/slides/slide13.xml" Id="Rf6177e77dd664fce" /><Relationship Type="http://schemas.openxmlformats.org/officeDocument/2006/relationships/slide" Target="/ppt/slides/slide14.xml" Id="R6f0e099d3e2c41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6514b001b846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569ed22a6d43a8" /><Relationship Type="http://schemas.openxmlformats.org/officeDocument/2006/relationships/notesMaster" Target="/ppt/notesMasters/notesMaster1.xml" Id="Ra437df4dd93b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ace57798a04afe" /><Relationship Type="http://schemas.openxmlformats.org/officeDocument/2006/relationships/notesMaster" Target="/ppt/notesMasters/notesMaster1.xml" Id="Rd1e8b2a5f1a34b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6bd40754734c95" /><Relationship Type="http://schemas.openxmlformats.org/officeDocument/2006/relationships/notesMaster" Target="/ppt/notesMasters/notesMaster1.xml" Id="Re8d06186eb0c4c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2940228cff411e" /><Relationship Type="http://schemas.openxmlformats.org/officeDocument/2006/relationships/notesMaster" Target="/ppt/notesMasters/notesMaster1.xml" Id="R721c939c5eaf47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948e5cb8254af4" /><Relationship Type="http://schemas.openxmlformats.org/officeDocument/2006/relationships/notesMaster" Target="/ppt/notesMasters/notesMaster1.xml" Id="R0af70f6604bf41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2676edc9db4b97" /><Relationship Type="http://schemas.openxmlformats.org/officeDocument/2006/relationships/notesMaster" Target="/ppt/notesMasters/notesMaster1.xml" Id="R0fe615a9942e49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6c23ba561c4614" /><Relationship Type="http://schemas.openxmlformats.org/officeDocument/2006/relationships/notesMaster" Target="/ppt/notesMasters/notesMaster1.xml" Id="R36e80f42ebb740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c0d8183e29479a" /><Relationship Type="http://schemas.openxmlformats.org/officeDocument/2006/relationships/notesMaster" Target="/ppt/notesMasters/notesMaster1.xml" Id="R225ef3372d7345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c19527eb304e07" /><Relationship Type="http://schemas.openxmlformats.org/officeDocument/2006/relationships/notesMaster" Target="/ppt/notesMasters/notesMaster1.xml" Id="R38bb8b2efb0a46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3993128e534ae7" /><Relationship Type="http://schemas.openxmlformats.org/officeDocument/2006/relationships/notesMaster" Target="/ppt/notesMasters/notesMaster1.xml" Id="R6ec0bbe9185345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61dc20d54849d5" /><Relationship Type="http://schemas.openxmlformats.org/officeDocument/2006/relationships/notesMaster" Target="/ppt/notesMasters/notesMaster1.xml" Id="R5a73c29da9c145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b71bb1c63144a7" /><Relationship Type="http://schemas.openxmlformats.org/officeDocument/2006/relationships/notesMaster" Target="/ppt/notesMasters/notesMaster1.xml" Id="R1b07a83bb7b546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4c9c1be52845b4" /><Relationship Type="http://schemas.openxmlformats.org/officeDocument/2006/relationships/notesMaster" Target="/ppt/notesMasters/notesMaster1.xml" Id="Rf456b7342a4f48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ac432b92e94193" /><Relationship Type="http://schemas.openxmlformats.org/officeDocument/2006/relationships/notesMaster" Target="/ppt/notesMasters/notesMaster1.xml" Id="R68b52ea4e3ca44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ea10252414a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ca7dbcfeef43d7" /><Relationship Type="http://schemas.openxmlformats.org/officeDocument/2006/relationships/slideLayout" Target="/ppt/slideLayouts/slideLayout1.xml" Id="R591c278a397f4a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1c278a397f4a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74a8c5ac9437b" /><Relationship Type="http://schemas.openxmlformats.org/officeDocument/2006/relationships/notesSlide" Target="/ppt/notesSlides/notesSlide1.xml" Id="Ref8cde2d174542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88427bd094946" /><Relationship Type="http://schemas.openxmlformats.org/officeDocument/2006/relationships/notesSlide" Target="/ppt/notesSlides/notesSlide2.xml" Id="Rc53c4765278c4d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4f67c036b4235" /><Relationship Type="http://schemas.openxmlformats.org/officeDocument/2006/relationships/notesSlide" Target="/ppt/notesSlides/notesSlide3.xml" Id="R478158639f4f4f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844a79ca4433e" /><Relationship Type="http://schemas.openxmlformats.org/officeDocument/2006/relationships/notesSlide" Target="/ppt/notesSlides/notesSlide4.xml" Id="R145b1c2f3a6b45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a05128f5f454a" /><Relationship Type="http://schemas.openxmlformats.org/officeDocument/2006/relationships/notesSlide" Target="/ppt/notesSlides/notesSlide5.xml" Id="R4d7811a0cf7347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1ad996260496d" /><Relationship Type="http://schemas.openxmlformats.org/officeDocument/2006/relationships/notesSlide" Target="/ppt/notesSlides/notesSlide6.xml" Id="R36a2f1e0617445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82fb8a51c4b94" /><Relationship Type="http://schemas.openxmlformats.org/officeDocument/2006/relationships/notesSlide" Target="/ppt/notesSlides/notesSlide7.xml" Id="R4eb8600426a34e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d1b7390534b50" /><Relationship Type="http://schemas.openxmlformats.org/officeDocument/2006/relationships/notesSlide" Target="/ppt/notesSlides/notesSlide8.xml" Id="Rad0170bfdb614c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51a5f05a24c3b" /><Relationship Type="http://schemas.openxmlformats.org/officeDocument/2006/relationships/notesSlide" Target="/ppt/notesSlides/notesSlide9.xml" Id="R6e4f5085c13047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1f5614f7e4f8c" /><Relationship Type="http://schemas.openxmlformats.org/officeDocument/2006/relationships/notesSlide" Target="/ppt/notesSlides/notesSlide10.xml" Id="R519caccef24842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7bd078ff04961" /><Relationship Type="http://schemas.openxmlformats.org/officeDocument/2006/relationships/notesSlide" Target="/ppt/notesSlides/notesSlide11.xml" Id="Rdcf753eae09e41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71a481ee741c5" /><Relationship Type="http://schemas.openxmlformats.org/officeDocument/2006/relationships/notesSlide" Target="/ppt/notesSlides/notesSlide12.xml" Id="R275c1afa7e8849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cfc8eb1f84b6b" /><Relationship Type="http://schemas.openxmlformats.org/officeDocument/2006/relationships/notesSlide" Target="/ppt/notesSlides/notesSlide13.xml" Id="Rb078fea977214d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427c1d676405b" /><Relationship Type="http://schemas.openxmlformats.org/officeDocument/2006/relationships/notesSlide" Target="/ppt/notesSlides/notesSlide14.xml" Id="Rc3df70c2a13148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10B849-D370-45B8-BDD4-D60EEFE6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Habi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FEE18-7208-4417-AE77-ABC80D98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Project memory for faster bids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00C19-6C8A-4619-BA3B-1F365250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Idea-stage concept deck for pilot feedback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Industrial projects, warehouses, and repeatable construction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5DC24-550E-47F3-AFB7-1E8E84D3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23900"/>
            <a:ext cx="34861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A6BAE-4FC1-4248-9713-5616A36C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66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Goal of this discussion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A9DEC-9A29-4C54-96D4-1B65E1E3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71625"/>
            <a:ext cx="2762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Explain the product idea clearly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Check if the workflow matches reality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Find what to include, exclude, or rename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Learn what data is actually available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Refine before building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FCC1F-34C1-4106-B40C-904C3769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815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Not a finished product. Not a pricing proposal. This is a working concept for correction.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B12AE-6E0C-41D0-85A9-23AE330B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Habi concept feedback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336C3-C10F-4D8E-B7B1-11BB703F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8917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BD5014-D7E3-45E3-A87C-C789EEB7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DC626-08EC-4AAD-90CE-F5641EBE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What we want feedback on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CE2F3-FDD2-427F-85B2-B81BC5FE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deck is designed to make assumptions visible early.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BD2B7-4612-4CDF-B6D4-FACDC8D6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AEB88-2C9E-4C9A-930D-3FEAD916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7D494-9325-41D0-90E4-58938E9D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Problem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1E6C9-E476-4C74-ADCB-3D6FB2F6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3086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Does this reflect how your team really prepares bids, canvasses suppliers, and reuses past project knowledge?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EE133-7698-4370-ACDD-F72097A8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DA1E2-7F3A-4E56-A984-6D65A387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002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Workflow 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40BDC-9F39-4596-A227-D0C23033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3086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Which steps are realistic? Which are missing? Which would create extra work instead of saving time?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4FDF0-2397-4BA0-8567-2D0A02A3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1699F-9306-41F3-AF8A-12ADB347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002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Output 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B4232-15F1-4F62-BAC7-0229739E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3086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Which outputs would be useful enough to review: starter packs, similar projects, supplier history, RFQ drafts, or change logs?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1881D-A10F-48BD-A1DA-AF94D2D8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429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68815-4993-4FE1-BDFF-167C6346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Data reality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13745-671F-4513-A829-FAA18EDF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3086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What files and records actually exist today, and how messy are they?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5CF30-B7DA-469A-8CDA-CDAA7138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429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D8299-A1FF-4D23-838C-C33A5E0E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481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39A9B-0484-4EF5-8D54-8CE9FC88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9625"/>
            <a:ext cx="3086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What evidence would make an AI suggestion acceptable for review, not final approval?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C8E81-D60E-4034-97B9-C95F3DD8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3429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FE8FD-1177-40E8-AE79-AC39DE56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481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185B8-F1A7-4C71-B7E3-781C8050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19625"/>
            <a:ext cx="3086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What should Habi avoid in the first version?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FB115-CF78-4D25-AA64-FC833725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Habi concept feedback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B9A5BB-00D4-42E3-AD84-FDF08943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12318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9A0AAF-380E-4E74-AF5C-F6C08896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Market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7A2FF-6B78-4117-9087-666260C2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Construction is active, but project knowledge is still hard to reuse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4F325-C3BA-4CD2-8EAC-13B40FC6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opportunity is not to replace existing project tools. It is to make messy private history reusable.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5FBD1-54BE-4D08-A9FE-ECEF3F05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2E2FB-435A-4522-AAF2-199D3F62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13,677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64250-3AE4-4361-81B6-BDADD5A8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approved constructions in the Philippines in April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1B741-0259-4737-B7C1-9D3D27E0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PhP 47.42B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ED6DA-7C94-4E9D-8076-645A4D6D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38450"/>
            <a:ext cx="319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total value of constructions from approved permits in April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7BE18-0B83-48C9-AE6F-38156DA9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PhP 22.34B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DF003-0E16-4E53-AE61-C374176B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384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value of non-residential building construction in April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53DB3-F596-494F-802F-BD78C5BE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A8F8D-14B0-4EF4-94BD-D6286AE9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Habi starts with a narrow practical question: when a contractor sees another warehouse or industrial job, how much of the team’s past purchasing knowledge can be reused safely?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0C6FD-F257-4C5A-B753-5290583D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942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5555"/>
                </a:solidFill>
              </a:defRPr>
            </a:pPr>
            <a:r>
              <a:rPr sz="788" b="0">
                <a:solidFill>
                  <a:srgbClr val="555555"/>
                </a:solidFill>
              </a:rPr>
              <a:t>Source: Philippine Statistics Authority, Construction Statistics from Approved Building Permits, April 2026.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30AAB-BF78-47BB-83B0-E9E7CEBC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Habi concept feedback deck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80C91-2587-4AE6-A1DB-5C7A950D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70495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33D509-925A-4E59-A6DD-F9784E0A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Problem Hypothesis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835F5-5742-4E18-97C9-CED851EB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problem: project knowledge is scattered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2939D-9282-43FA-BC94-E1554EA4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This is the assumption we want the pilot team to correct.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27091-F69D-4610-8679-07224AD2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B3D03-8B33-464D-940C-86D2CBF3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Where knowledge lives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6A86E-ECCD-4C4D-B38A-78EF2769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36969-E004-44B7-AA11-2A6ADB7F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285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Excel files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BOQs and material lists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Supplier quotes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Purchase orders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Delivery receipts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Emails and chats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Engineer notes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Personal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61323-E69F-41FC-894D-5C19991F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Questions repeated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C83FF-472F-4AA6-A7BF-9D4A2C9B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288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DB82A-B483-4BA0-8B47-0E7E603F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19375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What did we buy last time?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Which supplier handled this?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What was the previous price?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Did we need hauling or rental?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Did the supplier deliver well?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What did we miss before?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34AE4-CF7D-4DAA-96BF-5D0245BA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02AE0-0C98-4F4D-ACBF-DCAD16FF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2887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E83FD-488B-472B-A112-3711B100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9375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Bids start from scratch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RFQs take longer to prepare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Past supplier lessons are hard to find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Service items are forgotten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Bid assumptions are not compared to actuals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05E77-26C2-4211-B78C-49CCE86B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Feedback needed: which of these are real pain points for your team, and which are not?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18785-057D-4CA9-8487-9291ADC3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Habi concept feedback deck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D7148-080F-4EEC-8C0E-0289099C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6311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FDB08F-2B66-4984-B51B-7E0368A8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5B077-88D4-43A5-90FC-D15731A0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Habi turns past projects into reusable bid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26448-0386-401B-AD40-73E262D2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product idea: faster bidding through private project history, not public supplier recommendations.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EC06F-11AC-4CE7-84E2-E58C97D6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2D86D-C1E9-4D11-8732-C52C5988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8E8CF-64CE-44CB-AA0A-2B12DD38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Messy past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94D57-9BE5-4DE9-8EFB-BB83CE1E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432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79F1F-9C58-418F-811A-0A36F160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6955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BEE18-97DF-4035-8582-365981F2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8A948-A9FF-464E-84FA-573EC71A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336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Extract and normalize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4321B-0257-4FE4-8DF3-E1416006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0BF69-D1CA-40F6-A553-34B89317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955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A8F92-1792-41E9-A5B1-2E1BADC5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C7934-17C1-4F99-9C73-36490A57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336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Find similar projects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CD59C-541B-44A8-94D9-4AFF5168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432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307D3-497D-455B-ACF4-1AC39658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955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5295A-0451-4477-A743-7C6027EB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12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1793B-FD29-47F6-9927-E799E19A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Suggest starter pack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FA987-C838-48FC-B5A4-30BAB46B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432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2530B-5A87-4B5D-8CE0-B6342625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6955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61B2C-AD12-4B00-A9E7-F2F114A1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133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EA956-84FD-4CA9-A106-3968AC0F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336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Human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6786F-38A0-4753-8EA3-27E4728A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Starter pack means: materials, services, historical prices, supplier/service-provider options, missing-scope questions, and RFQ/canvass drafts.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05A53C-2B8A-45AB-A3A6-1E66947C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Important boundary: Habi does not produce final engineering quantities or make purchasing decisions. It helps the team find evidence faster.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0C2893-B372-44AD-8A51-454B80C0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Habi concept feedback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AEB8F1-DF91-468A-9C1D-FBF34F3F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796139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FA307C-0D62-4D17-8154-D6530C00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Proposed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C7011-10D6-40D7-AB33-21F3A748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 detailed first workflow for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A9BEB-BFEF-4754-9F16-908819D9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This is intentionally specific so the pilot team can mark what feels useful or wrong.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E73B9-4ABE-45D9-8AE5-D3DD6FC0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6CD35-6B64-4FC8-89E5-43DEB23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287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1. Upload 3 completed industrial projects and 1 upcoming or active project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2. Extract materials, services, suppliers, prices, quantities, dates, and project context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3. Review uncertain matches and normalize messy item/service names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4. Create a new project profile: type, location, floor area, trade scope, urgency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5. Find similar projects and show evidence for why they match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6. Generate a starter material/service pack with confidence levels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7. Prepare RFQ or canvass drafts for human editing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8. Compare supplier options and tradeoffs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9. Record decisions, changes, issues, and lessons for future bids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36281-5ED0-4936-A228-125947AB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33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Feedback needed: which steps would save time, and which steps would be too much work?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4A05D-AA87-4726-9F14-DE6961A0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Habi concept feedback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6C05F-9387-4769-BF27-77727FA0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6826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FBA625-C0B8-4C98-ACA5-6CC55065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Project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5D8CA-A642-47CE-A9A2-1A85A579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Winning the bid is not the end of the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474B2-4059-4E0B-ACA6-F1D8BD06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Habi should preserve what changed from bid to award to actual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32055-29FF-4013-8AB4-823021DC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BDBA4-5C6C-4E77-B44C-4CB5D844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47925"/>
            <a:ext cx="114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3A5EA-3476-4F0C-91CA-216DC68A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Bid Invite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98D90-4121-4C7D-A3E2-98669EC7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717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96D8A-206D-4F8A-AC61-2445ECB4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24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13931-CEA4-4048-93C3-4C387549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47925"/>
            <a:ext cx="114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669F1-BE62-4862-90DC-5B308A8E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003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Estimating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B93AB-D37E-4F3D-85B6-D35DA46F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717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BC1B6-AB7D-4729-BA9B-0E8996F2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24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C8C0E-B1EE-480F-AC53-C5632AAC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47925"/>
            <a:ext cx="114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4DE6A-0750-4AB9-9DA8-93A19348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003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Bid Submitted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00A6A-9D35-4A67-B059-4C025116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717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F0475-55B6-45FA-8275-BBCABF0F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F17A7-C325-42D7-BC42-E314CB34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47925"/>
            <a:ext cx="114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335D3-BBA3-4E47-ADF8-B2B47170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003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Awarded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153B8-2E4B-4F87-9F7D-1A649CAE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717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091E6-92CE-4789-B7FF-30454FF3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24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E668E-2256-465A-A5A7-7E1D41D8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47925"/>
            <a:ext cx="114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55C22-65AB-4D1A-92C0-B5C8C6C8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03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Buyout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2D124B-5B8F-486A-B39D-B7D26E6F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717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E8AC09-DF11-45C6-9EAB-B15DB785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24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A0F6C-9BF3-457E-9EBC-70CF44A4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47925"/>
            <a:ext cx="114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5FEFDF-F44F-44EC-96E8-4F84386A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03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Execution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4BA6E9-BE5F-4A05-9C4F-B6E2AD2B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717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81291A-9F2C-4B76-932A-C5A9740C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34EDB9-25F3-4D22-9280-3858CF98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47925"/>
            <a:ext cx="114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59FB04-B0B3-48AF-9A94-C3C88B6D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03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Closeout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EA2CED-B9F7-4991-B104-6914EC1E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717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470B01-CE57-48AF-846F-3E4D4A67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24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8BE9BB-3D5D-4A2C-A77F-E8BC4803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47925"/>
            <a:ext cx="114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C59199-806C-4FE3-98DE-B39790AD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003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Memory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A06800-4B9D-4227-AF6B-F7193260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BA541E-C2AC-4BBB-981F-6120FC94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Bid Baseline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D78066-20BC-4306-BB4E-5FD5BD0F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Freeze what was submitted: quantities, supplier assumptions, exclusions, risk notes, and confidence.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F571EC-F13D-4E10-B105-AFD85974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12F3EE-21B6-44A6-922A-0E74EE6C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576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Award Baseline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CFFE1D-6260-48C1-825F-24F73B79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29125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Capture what changed after negotiation, value engineering, owner revisions, and accepted scope.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B851D5-4C9E-4936-9C89-BFC0476B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B203DC-0412-4BAE-949D-DBD61B2E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576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Actual Memory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C69FA1-160B-4837-B168-AAD907F9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29125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Track purchases, substitutions, delays, added services, field issues, and lessons learned.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2FADD8-5098-425C-AB01-D825E017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Core question: Compared to what we originally thought, what changed?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6535A8-41C9-4E90-8828-6790BDEE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Habi concept feedback deck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7AD7C8-1808-4CF2-AE33-8339890B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639583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4AA0E0-9F42-4C76-83E6-B23C74C2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Example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38B9F-A0D4-4D6F-8A68-3880A40E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What Habi might show for a new industrial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D9EC6-1391-4715-A355-E423823F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These are sample output categories, not a final product spec.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EE3E0-F9E5-445A-8228-9EE8E06C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307EE-0452-48B5-9015-83438CBE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3429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0767D-F36B-4A97-B165-E369F353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Similar projects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6ED97-AF5B-40FB-AF1A-8B8818EC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308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Warehouse A: same trade scope and location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Factory Fit-out B: similar electrical package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Warehouse C: similar plumbing complexity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F4B85-E72A-49CE-97A6-83F4E233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3429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0B51E-382D-4B5B-B4BE-5931E65F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002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Starter pack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BC4C0-2661-4E18-9A50-992F40FB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308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Materials likely needed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Services likely needed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Fixed vs area-based vs scope-triggered items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Confidence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4B6BC-1CAE-4F3E-AAB6-47F9E539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3429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A8EBE-CB1B-417C-8EFE-59D0AB32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002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Supplier/service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008B7-E3C5-4E48-A3F2-61AD8BDD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308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Previously used suppliers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Known price references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Bundled vs split options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Past delivery or quality issues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CFFB0-0B65-4656-B0C4-19453C1C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FFF84-A694-4801-987F-2D1DA282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Bid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C1E17-4199-49A2-95FB-4447F9E4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38675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Missing specs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Unit mismatches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Scope gaps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Items marked verify before bid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8DF59-CC86-47FD-9D63-23CCFED6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E83F7-EA2E-4634-BBCA-952EE1AF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672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RFQ/canvass draft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DFF22-B255-4D96-8D18-5B056380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38675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Line items normalized for purchasing review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Supplier shortlist from private history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Editable before sending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8E458-5A7E-421A-B196-F4F71431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1480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D2C9E-A93E-4A02-8B3B-4488717F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672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Change 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61DDA-958C-446F-B4B8-386678F2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38675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Track what changed after award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Preserve lessons for the next similar job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48811-1D20-48BA-B9F4-E38D5949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Habi concept feedback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9B05A-31F6-4074-8847-EC7B9EC2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706153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71EAD6-F3DA-44C6-A6F7-18852BB3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What To Include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C4748-ABEA-4470-BE2C-4D5BBB6F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 feedback board for first-version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1D1F7-80C5-4239-A708-998D679F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pilot discussion should help move items across these columns.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95132-C67A-4C74-A4AD-E9B797E3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10DF9-FFFD-4F32-BC86-47C4EDC9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Likely first 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A30B4-8E56-42FC-BB8A-C48BFE09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5248E-0D86-4598-B158-5CD3C961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3095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Similar project search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Material/service starter pack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Historical price references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Supplier/service-provider history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RFQ/canvass draft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Human review and correction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CD5DC-7383-4128-88D9-BC2EAF35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Maybe later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1FFB1-46A9-43DA-8A8B-1FD316F1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2887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5B74B-56E1-42F4-8089-544E2349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19375"/>
            <a:ext cx="3095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Inventory management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Accounting integration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Formal contract workflows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Full scheduling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Advanced supplier scoring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Company-wide analytics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BCC2B-ECE7-47D9-B582-46073481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Probably exclude early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2AA8F-DF11-4852-8715-8291CDA3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2887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D8D6D-F564-4CEA-BA49-C8CBD244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9375"/>
            <a:ext cx="3095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Final quantity takeoff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Autonomous supplier selection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Public supplier marketplace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Guaranteed bid pricing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Replacing engineer approval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Replacing purchasing decisions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61B81-CFF5-47D1-8729-DCC7347C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Feedback needed: what belongs in the first version for your team?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A3944-5546-4342-9978-027B982C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Habi concept feedback deck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C8111-E91E-479D-AA4F-4E31028B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647281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7EE656-58D7-444F-BE2A-6FCC68FB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Market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4A2E5-78BA-4837-B225-386118CC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What similar tools already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13F02-0B89-4B19-BF0D-C9390C4F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Habi should learn from these categories, but not copy their full scope.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03FEA-66EE-4624-AA1D-4FB3637B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96E8C-4F54-47F2-B8F5-F9D8EA72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Category /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9E0A4-3191-43DC-A6E7-F2EDE548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478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What the market already offers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83B50-9193-4AAB-BE36-983D77C6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What it suggests for Habi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1D4F9-AB20-4E17-A449-0CD834AA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777CA-1EDF-4475-BAD4-47B9B37A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BuildingConnected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2E7BB-B334-4FA5-86C7-7C2BC59F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193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Bid management, bid levelling, historical cost tracking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EEA31-3F5D-4EFD-B417-831CC1A7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19375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Strong for preconstruction and bid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E000F-B181-4518-BC60-DD2182AC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480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A3D5F-40A6-4A97-94DF-3BF2FC1C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04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ProcurePro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A0FD2-75E1-4A79-9FA8-04153A09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0042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Procurement workflows, quote comparison, lessons learnt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007E4-9A09-4B4B-AA09-D7B7AD02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0425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Strong for controlled procurement process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875D3-7385-489A-99A9-3C898D48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29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66492-1931-49A9-8BC3-9742A1CA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Field Materials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96C0F-CC0D-4E33-A6C5-1EB281FD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814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 quote/PO/delivery/invoice extraction, material price intelligence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F5F58-E849-4023-8B07-E7E0719D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81475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Strong for purchasing document automation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6F304-98B6-481B-B86F-ED4C6F48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9EE111-E571-4DD8-ADD1-463838A5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ERP / PM systems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8D647-FCB3-4547-A38E-1E90434D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6252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Accounting, project controls, scheduling, documents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98788-01CD-43D2-B956-0D26281F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62525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Broader systems, often heavier than the first Habi wedge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1988C5-D97E-42CF-818F-BF62D226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144EB9-991D-4F7C-B23F-7ACF2A28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942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5555"/>
                </a:solidFill>
              </a:defRPr>
            </a:pPr>
            <a:r>
              <a:rPr sz="788" b="0">
                <a:solidFill>
                  <a:srgbClr val="555555"/>
                </a:solidFill>
              </a:rPr>
              <a:t>Sources: Autodesk BuildingConnected, ProcurePro, ProcurePro Lessons Learnt, Field Materials.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D9426A-AD17-45DD-A8CC-A828A664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Habi concept feedback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728FCF-2857-4CDD-BC4C-5F989418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945333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771914-7ABA-4561-9B0E-5D6BF85F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Habi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0F2F0-1CF5-4BDA-920C-4AEA4CC2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What should make Habi different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2CFFD-9B20-48C1-B01A-54FEB396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sharper the wedge, the easier the pilot is to validate.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E6FD8-D74A-4B3F-B59F-CD67B522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D3B6D-CED6-4D13-9261-868B7023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5F38E-11C8-4637-A2BD-2894B684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Private project 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65A19-3B47-4E22-82C2-42D370FF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Recommendations come from the contractor's own historical projects, not a public supplier marketplace.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6492B-0478-4FED-9F27-803F3257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BC65C-F3A0-40EA-B383-436725AF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Built for messy SME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DC7B0-DCDA-40C3-9F11-0FE5F963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19375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Excel, BOQs, quotes, POs, delivery records, emails, chats, and notes are expected inputs.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53724-110E-42C5-8894-AD47CFFC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B3373-2B3C-4FBD-B025-D5DE0B7B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479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Materials plus 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A6B1A-3151-4339-A4B3-26416BEC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19375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Habi should remember not only cement, rebar, pipes, and wires, but also hauling, rental, testing, labor, permits, and specialty 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BFC82-E208-42FD-B7D2-AB735C17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4A07E-B0ED-4B7C-8363-BACB260C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Bid-to-actual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56403-80D7-4D26-8983-062D7A4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308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Every suggestion should show whether the evidence came from original bid, awarded scope, actual purchase, issue, or closeout lesson.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604CC-244E-49D3-BDB4-AD98927C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C0720-0FD4-4900-AAFD-392638FA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529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Human-reviewed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2BAAA-313D-4C27-83D8-BB252DEB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24375"/>
            <a:ext cx="308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AI finds, normalizes, compares, and explains. Engineers and purchasing still approve.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1A9FF-8B76-498D-AE8D-7009D27D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408A2-F89F-42F3-AEC0-D200C085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529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Philippine SME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C5EA7-A4DC-4730-B780-060B989B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24375"/>
            <a:ext cx="308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Start with industrial projects in Metro Manila and CALABARZON, then learn what generalizes to broader Philippine construction SMEs.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A8615-DF74-4E76-A152-EB8E7DEC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Habi concept feedback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9092D-AD0D-4CB2-9C81-1E4DD6F6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501488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F82261-6862-4636-93DF-4D9ACE53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Trust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60057-66A7-4B7F-8598-1E5FB3CD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Every recommendation should explain its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7918C-6DB7-4B4F-AC5A-1261B9C0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This is the difference between useful AI and risky guessing.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6F358-3D18-4E81-94CD-F5B7C69F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FDC84-6FD5-4D27-81A5-0D9CB82C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918A4-17FE-46E9-9EDE-744EC13E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76009-902B-4C0E-A169-2D0B06E9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705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Likely include hauling service in starter pack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6B93E-091D-45B3-9993-0276231F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84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8BCC4"/>
                </a:solidFill>
              </a:defRPr>
            </a:pPr>
            <a:r>
              <a:rPr sz="31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E7E96-B34B-4F34-B572-EC76B73E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3810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C87BF-4817-4180-8D86-346CE63D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105025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F0C1C-32A0-4C22-8FAD-F48D1590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76500"/>
            <a:ext cx="3467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Used in 2 similar warehouse projects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Added after award in 1 project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Marked as missed scope in closeout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D2C00-93CB-4807-AE22-3095A151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384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8BCC4"/>
                </a:solidFill>
              </a:defRPr>
            </a:pPr>
            <a:r>
              <a:rPr sz="31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B23FD-8F9C-49DB-91E6-D06C62CD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43125"/>
            <a:ext cx="2095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9283D-B926-4769-BED5-459F403E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9552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Human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17FD4-CA84-4274-9954-7CF78F77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0"/>
            <a:ext cx="1752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Accept, reject, edit, or mark as verify before bid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F1306-B6DA-452B-AED4-5D48DE24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0429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Confidence labels should be plain: likely needed, possibly needed, used before but verify, only if scope includes condition, not enough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6D2F0-77EA-4B67-B30A-F10FAFE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Feedback needed: what evidence would make your team trust a suggestion enough to review it?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AA671-2F4C-45FE-A56D-03FC8702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Habi concept feedback deck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E5C03-B63B-4379-9797-5D225C77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934119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9C276-1355-4A09-B1CC-7CE7DAA7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Pilot Feedback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CBD46-0290-4A5B-93CF-06A900CB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Questions we should ask during the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AB9C3-C6B3-4311-9C35-45570692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goal is to learn, not to pitch a finished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1A940-9426-4394-A548-D2041211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B0190-5077-4485-AC81-4E135CCE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5B958-BA54-4E7D-B333-9DB7A20A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79A1C-04F1-4938-BFEF-9D16F386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How does a new bid really start?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Where does the team lose time?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What changes after award?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Who records lessons today?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41DD3-DBDD-44DF-89A4-AE67744E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12578-18CC-48CF-BF5D-6C5A7D4F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2887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0A9DA-A0E4-420F-917E-A1CD3537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19375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Where are past quotes stored?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Do final purchase prices exist?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Are service providers tracked?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Can bid vs actual be reconstructed?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9EDF1-4CD6-49FC-932F-B19CC06C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Outputs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17FF2-C058-495D-9458-24DE97EC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2887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68ADA-D5FB-43F7-9C2C-27C82960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937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Which suggestions are useful?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Which outputs should be removed?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What should never be AI-suggested?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What would make this worth trying?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4BDE9-2078-47A0-8765-CD0272E2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Suggested ask: after this discussion, request anonymized sample files from 1 completed project and 1 upcoming project to test whether Habi can produce a useful starter pack manually.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C8968-598F-4F2A-9226-C02FF9F6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Habi concept feedback deck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110D4-B2A5-4F74-98B8-EC68BF43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358386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29B5F1-CF08-4771-B0C4-0E0AB805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1EE77-3E14-4A91-845E-5A1ED4C3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Research signals used for this concept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33F62-5676-41CE-BF9D-9284E3A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Claims are intentionally limited because Habi has not yet gathered customer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1C4AC-E159-4052-8786-0D86E907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7A30B-7C10-4B3F-9BC5-ACBB44A4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Philippine Statistics 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0916E-14E3-4402-8052-E40150F4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55555"/>
                </a:solidFill>
              </a:defRPr>
            </a:pPr>
            <a:r>
              <a:rPr sz="1088" b="0">
                <a:solidFill>
                  <a:srgbClr val="555555"/>
                </a:solidFill>
              </a:rPr>
              <a:t>Construction Statistics from Approved Building Permits, April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94916-FC48-4518-A633-6B409C46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https://psa.gov.ph/content/construction-statistics-approved-building-permits-april-2026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D42D4-4C6B-45E4-AF7C-45BF92F0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1E6A7-170F-48CE-9988-D284E9E3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Autodesk BuildingConnected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21E6D-8321-4AE6-A8C1-54A21735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55555"/>
                </a:solidFill>
              </a:defRPr>
            </a:pPr>
            <a:r>
              <a:rPr sz="1088" b="0">
                <a:solidFill>
                  <a:srgbClr val="555555"/>
                </a:solidFill>
              </a:rPr>
              <a:t>Bid management, apples-to-apples comparison, performance metrics, historical cost tracking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90BE3-EB0F-4FC2-8E8C-183DA0D8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https://construction.autodesk.com/products/buildingconnected/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44821-2D26-4DFA-82BC-1169C4B4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09714-29C6-4672-A28E-300784F4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ProcurePro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79FF5-029A-4EC2-B16A-8771F2C9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55555"/>
                </a:solidFill>
              </a:defRPr>
            </a:pPr>
            <a:r>
              <a:rPr sz="1088" b="0">
                <a:solidFill>
                  <a:srgbClr val="555555"/>
                </a:solidFill>
              </a:rPr>
              <a:t>Construction procurement workflows, quote comparison, AI bid levelling, lessons learnt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C8E02-CC3B-47BC-80DD-A4B1623F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https://procurepro.co/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8BE33-9C5F-49C9-B255-B794BCAE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91690-4C1A-4C1B-885C-902E6819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ProcurePro Lessons Learnt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48A18-B568-4099-B804-1FB3A027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71875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55555"/>
                </a:solidFill>
              </a:defRPr>
            </a:pPr>
            <a:r>
              <a:rPr sz="1088" b="0">
                <a:solidFill>
                  <a:srgbClr val="555555"/>
                </a:solidFill>
              </a:rPr>
              <a:t>Capturing project learnings to reduce scope gaps and future risks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A0D42-391A-47D6-9560-60343B37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https://procurepro.co/solutions/lessons-learnt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9BF8A-CC13-4A19-8CE0-9D68943B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719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48921-2D46-4ADC-9F92-74A571C3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Field Materials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E3B29-4F26-4479-BA94-4D2C0341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55555"/>
                </a:solidFill>
              </a:defRPr>
            </a:pPr>
            <a:r>
              <a:rPr sz="1088" b="0">
                <a:solidFill>
                  <a:srgbClr val="555555"/>
                </a:solidFill>
              </a:rPr>
              <a:t>AI construction procurement software for quotes, POs, delivery slips, invoices, price tracking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9B211-F44C-4237-9988-EB679695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95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https://www.fieldmaterials.com/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97920-4F75-40C7-848E-D11376F9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3D0F09-AB80-4BD2-A842-50EF57D6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9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Field Materials FAQ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031B9A-B4FB-4322-9322-9F348E2E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9625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55555"/>
                </a:solidFill>
              </a:defRPr>
            </a:pPr>
            <a:r>
              <a:rPr sz="1088" b="0">
                <a:solidFill>
                  <a:srgbClr val="555555"/>
                </a:solidFill>
              </a:rPr>
              <a:t>AI document extraction, vendor-format learning, PO/invoice/delivery discrepancy 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E52490-A02D-4125-AC5E-601C0656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196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https://www.fieldmaterials.com/faq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462780-A6F1-42DC-BB67-C2AE619B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78DEE3-6C44-4A63-AB85-D21E1BF8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McCormick Systems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838055-C24F-4EFA-A966-68897F52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55555"/>
                </a:solidFill>
              </a:defRPr>
            </a:pPr>
            <a:r>
              <a:rPr sz="1088" b="0">
                <a:solidFill>
                  <a:srgbClr val="555555"/>
                </a:solidFill>
              </a:rPr>
              <a:t>Construction change order management lifecycle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E26F11-2450-4BBA-99AC-7229E63F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435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https://www.mccormicksys.com/blog/what-is-construction-change-order-management/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4E92C7-646A-46FC-80D0-9B351CC6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CDD007-F451-45F9-A824-69566DEE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Open gap: no direct pilot-customer interviews yet. The next step is to replace assumptions with the target company’s real workflow and sample data.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A4060F-A8D6-40EF-9FA7-CF5B18D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Habi concept feedback deck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F598CB-A72D-488C-B4F8-91DEC115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91766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2026-06-26T04:54:52.7660000Z</dcterms:created>
  <dcterms:modified xsi:type="dcterms:W3CDTF">2026-06-26T04:54:52.7660000Z</dcterms:modified>
</coreProperties>
</file>